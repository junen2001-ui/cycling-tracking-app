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要求仕様デジタル化による開発プロセス改革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D4EA"/>
                </a:solidFill>
                <a:latin typeface="游ゴシック"/>
                <a:ea typeface="游ゴシック"/>
              </a:rPr>
              <a:t>ExcelからYAMLへ ― AIが理解できる要求仕様が拓く、品質と開発効率の刷新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4C8"/>
                </a:solidFill>
                <a:latin typeface="游ゴシック"/>
                <a:ea typeface="游ゴシック"/>
              </a:rPr>
              <a:t>組み込みファームウェア開発チーム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現状の開発プロセス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ウォーターフォール型 + 度重なる仕様変更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374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要求仕様
(Excel/Word)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106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7822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基本設計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9554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3270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機能設計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5002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8718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Coding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0450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4166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単体テスト
(CT)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5898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9614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組込みテスト
(IT)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13467" y="2514600"/>
            <a:ext cx="137160" cy="0"/>
          </a:xfrm>
          <a:prstGeom prst="line">
            <a:avLst/>
          </a:prstGeom>
          <a:ln w="25400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0627" y="2103120"/>
            <a:ext cx="1417320" cy="82296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システム
テスト(ST)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009747" y="3017520"/>
            <a:ext cx="4480560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32707" y="2971800"/>
            <a:ext cx="2103120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8227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游ゴシック"/>
                <a:ea typeface="游ゴシック"/>
              </a:rPr>
              <a:t>仕様変更 → 設計手戻り(繰り返し発生)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  <a:latin typeface="游ゴシック"/>
                <a:ea typeface="游ゴシック"/>
              </a:rPr>
              <a:t>● 基本的にはウォーターフォールモデルだが、開発途中で仕様変更が発生し、設計変更を何度も繰り返している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700" b="1" i="0">
                <a:solidFill>
                  <a:srgbClr val="333333"/>
                </a:solidFill>
                <a:latin typeface="游ゴシック"/>
                <a:ea typeface="游ゴシック"/>
              </a:rPr>
              <a:t>● 上流の「要求仕様」が Excel / Word というアナログ媒体であることが、この繰り返しのたびに問題を増幅させている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現状の3つの課題(1/2)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アナログな要求仕様が引き起こす問題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C0392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 i="0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游ゴシック"/>
                <a:ea typeface="游ゴシック"/>
              </a:rPr>
              <a:t>変更点の見落とし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変更点はExcel/Wordを目視で比較するしかなく、確認は担当者の注意力に依存する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セルの色付けやコメントに頼った運用では、更新漏れ・見落としが構造的に発生する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C0392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 i="0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游ゴシック"/>
                <a:ea typeface="游ゴシック"/>
              </a:rPr>
              <a:t>影響範囲の見極めが困難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11480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要求と設計・テストの対応関係が文書として構造化されていないため、変更がどこに波及するか人手で追うしかない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結果として、リグレッションテストで確認すべき項目が漏れ、デグレードが本番間際・出荷後に発覚するリスクが残る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現状の3つの課題(2/2)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小手先修正の連鎖がソースを複雑化させる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C0392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 i="0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游ゴシック"/>
                <a:ea typeface="游ゴシック"/>
              </a:rPr>
              <a:t>納期優先の小手先修正が繰り返される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納期が迫ると、根本原因に手を入れる時間が取れず、局所的なパッチで対応してしまう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この対応が積み重なることで、ソースコードの構造が徐々に複雑化し、次の変更コストがさらに上がる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51326"/>
            <a:ext cx="1920240" cy="5486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C0392B"/>
                </a:solidFill>
                <a:latin typeface="游ゴシック"/>
                <a:ea typeface="游ゴシック"/>
              </a:rPr>
              <a:t>納期のプレッシャー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800600"/>
            <a:ext cx="1920240" cy="5486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C0392B"/>
                </a:solidFill>
                <a:latin typeface="游ゴシック"/>
                <a:ea typeface="游ゴシック"/>
              </a:rPr>
              <a:t>小手先の修正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5849874"/>
            <a:ext cx="1920240" cy="5486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C0392B"/>
                </a:solidFill>
                <a:latin typeface="游ゴシック"/>
                <a:ea typeface="游ゴシック"/>
              </a:rPr>
              <a:t>コードの複雑化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800600"/>
            <a:ext cx="1920240" cy="5486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C0392B"/>
                </a:solidFill>
                <a:latin typeface="游ゴシック"/>
                <a:ea typeface="游ゴシック"/>
              </a:rPr>
              <a:t>変更コストの増大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8374437" y="4459654"/>
            <a:ext cx="213245" cy="181257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374437" y="5508928"/>
            <a:ext cx="213245" cy="181257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9997" y="5508928"/>
            <a:ext cx="213245" cy="181257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39997" y="4459654"/>
            <a:ext cx="213245" cy="181257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805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游ゴシック"/>
                <a:ea typeface="游ゴシック"/>
              </a:rPr>
              <a:t>この3つの課題はいずれも、要求仕様が「機械可読でない」ことに起因している。
→ 上流の要求仕様そのものをデジタル化し、変更・影響範囲・品質を機械的に扱える形にすることが、根本解決の出発点となる。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目指す姿:要求仕様を起点とした自動化パイプライン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3183" y="2286000"/>
            <a:ext cx="1920240" cy="9144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1E8A4C"/>
                </a:solidFill>
                <a:latin typeface="游ゴシック"/>
                <a:ea typeface="游ゴシック"/>
              </a:rPr>
              <a:t>要求仕様
(YAML)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03423" y="2743200"/>
            <a:ext cx="256032" cy="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59455" y="2286000"/>
            <a:ext cx="1920240" cy="91440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1F3A5F"/>
                </a:solidFill>
                <a:latin typeface="游ゴシック"/>
                <a:ea typeface="游ゴシック"/>
              </a:rPr>
              <a:t>Git
差分検出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79695" y="2743200"/>
            <a:ext cx="256032" cy="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35727" y="2286000"/>
            <a:ext cx="1920240" cy="91440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1F3A5F"/>
                </a:solidFill>
                <a:latin typeface="游ゴシック"/>
                <a:ea typeface="游ゴシック"/>
              </a:rPr>
              <a:t>設計項目
自動生成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55967" y="2743200"/>
            <a:ext cx="256032" cy="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1999" y="2286000"/>
            <a:ext cx="1920240" cy="91440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1F3A5F"/>
                </a:solidFill>
                <a:latin typeface="游ゴシック"/>
                <a:ea typeface="游ゴシック"/>
              </a:rPr>
              <a:t>CT/IT
項目自動生成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2239" y="2743200"/>
            <a:ext cx="256032" cy="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88271" y="2286000"/>
            <a:ext cx="1920240" cy="91440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1F3A5F"/>
                </a:solidFill>
                <a:latin typeface="游ゴシック"/>
                <a:ea typeface="游ゴシック"/>
              </a:rPr>
              <a:t>インシデント
管理へ自動登録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183" y="3429000"/>
            <a:ext cx="10625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版数管理・差分・自動生成をすべて機械的に処理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要求仕様をYAML(構造化テキスト)で記述し、Gitでバージョン管理する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変更はGit差分として機械的に検出でき、影響範囲の特定を人手に頼らない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差分から設計項目・CT/ITのテストケースを自動生成し、レビューとテスト双方の抜け漏れを防ぐ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検出した課題や不整合はインシデント管理(バックログ等)へ自動登録し、対応漏れを防止する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何が変わり、何が変わらないか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598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4903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Before(現状)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After(YAML化後)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要求仕様の記述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Excel / 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YAML(構造化テキスト)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変更点の検出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目視での比較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Git差分による機械的検出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影響範囲の特定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人手による調査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要求ID紐付けによる自動トレース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設計・テスト項目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都度手作業で作成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差分から自動生成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版数管理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ファイル名・フォルダ運用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Gitによる正式な版数管理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設計の考え方・レビュー観点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変わらない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変わらない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游ゴシック"/>
                <a:ea typeface="游ゴシック"/>
              </a:rPr>
              <a:t>変わるのは「記述の形式」。設計スキルやレビューの目的は今まで通り活きる。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YAMLってどんなもの?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テキストで書ける、人にもAIにも読みやすいデータ形式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YAML(YAML Ain't Markup Language)は、構造化データをテキストで表現するための記述形式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「キー: 値」の組でデータを表し、字下げ(インデント)で階層構造を表現する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リスト(繰り返し項目)は行頭の「-」で表す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タブ文字は使えず、同じ階層は必ず同じ数の半角スペースで揃える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拡張子は .yaml または .yml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游ゴシック"/>
                <a:ea typeface="游ゴシック"/>
              </a:rPr>
              <a:t>● Docker Compose・Kubernetes・GitHub Actionsなど、多くの開発ツールの設定ファイルとして既に広く使われている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029200" cy="274320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# センサー設定の例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sensor: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name: TempSensor01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type: I2C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address: 0x48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sampling_rate_ms: 100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channels: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- id: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  unit: degC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- id: 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  unit: percentRH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游ゴシック"/>
                <a:ea typeface="游ゴシック"/>
              </a:rPr>
              <a:t>← インデントと「-」だけで、階層とリストを表現できる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Excelの表と何が違うのか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見た目は違うが、伝えている情報は同じ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029200" cy="457200"/>
          </a:xfrm>
          <a:prstGeom prst="roundRect">
            <a:avLst/>
          </a:prstGeom>
          <a:solidFill>
            <a:srgbClr val="F6E3C6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E08E0B"/>
                </a:solidFill>
                <a:latin typeface="游ゴシック"/>
                <a:ea typeface="游ゴシック"/>
              </a:rPr>
              <a:t>Excel(現状)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860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146304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項番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状態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イベント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遷移先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IDLE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Start押下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RUNNING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RUNNING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異常検知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ERROR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1148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見た目は整っているが、セル結合・自由記述・表記ゆれによりプログラムからは正確に読み取れない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029200" cy="457200"/>
          </a:xfrm>
          <a:prstGeom prst="roundRect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1F3A5F"/>
                </a:solidFill>
                <a:latin typeface="游ゴシック"/>
                <a:ea typeface="游ゴシック"/>
              </a:rPr>
              <a:t>YAML(After)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029200" cy="201168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state_machine: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- state: IDLE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on: {event: START, next: RUNNING}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- state: RUNNING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5E853"/>
                </a:solidFill>
                <a:latin typeface="Consolas"/>
                <a:ea typeface="Consolas"/>
              </a:rPr>
              <a:t>    on: {event: ERROR_DETECTED, next: ERROR}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同じ内容を、キーと値の組で厳密に表現。表記ゆれが起きず、プログラム(AI含む)が確実に解析できる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まずは触ってみる:参考リソース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初めてでも読める入門コンテンツ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YAML入門(初心者向け)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游ゴシック"/>
                <a:ea typeface="游ゴシック"/>
              </a:rPr>
              <a:t>● 【初心者】YAML入門 (Qiita) - qiita.com/mackeyTA/items/7dd9282ae7c0599495a6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游ゴシック"/>
                <a:ea typeface="游ゴシック"/>
              </a:rPr>
              <a:t>● YAML入門:設定ファイルでよく見る「読みやすい」書き方 (Zenn) - zenn.dev/acntechjp/articles/a39e710de5d744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游ゴシック"/>
                <a:ea typeface="游ゴシック"/>
              </a:rPr>
              <a:t>● YAML入門:サンプルから学べる初心者向けガイド (CircleCI公式ブログ) - circleci.com/blog/what-is-yaml-a-beginner-s-guide/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組み込み分野での実例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游ゴシック"/>
                <a:ea typeface="游ゴシック"/>
              </a:rPr>
              <a:t>● Devicetree versus Kconfig (Zephyr RTOS 公式ドキュメント) - docs.zephyrproject.org/latest/build/dts/dt-vs-kconfig.html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游ゴシック"/>
                <a:ea typeface="游ゴシック"/>
              </a:rPr>
              <a:t>●   組み込みOSであるZephyrは、ハードウェア記述(devicetree)をYAML bindingsで管理しており、実際の量産組み込み開発でのYAML活用例として参考になる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まずは既存のYAMLファイル(CI設定など)を眺めてみるだけでも感覚がつかめる。難しい構文を覚える前に「読む」ことから始めればよい。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要求記述手法の全体マップ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目的に応じて9つの手法を使い分ける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9164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手法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主な目的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判断表(デシジョンテーブル)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条件の組み合わせと動作を漏れなく整理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自然文の要求を曖昧さのない定型構文で記述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正規化テーブル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パラメータ・データ項目を単一の真実源として管理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シーケンス表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処理・メッセージのやり取りの順序を記述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状態遷移表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状態とイベントによる振る舞いの変化を記述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タイミングチャート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割込み・周期処理などハードウェアのタイミング関係を記述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I/Oマップ/レジスタ定義表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ピン配置・レジスタビット割付を管理し、コード生成につなげる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Given-When-Then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テスト観点で要求を記述し、CT/ITケースへ橋渡しする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トレーサビリティマトリクス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要求⇔設計⇔テストの対応関係を管理し、影響範囲を追跡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① 判断表(デシジョンテーブル)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条件の組み合わせと動作を漏れなく整理する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複数の条件が絡む判定ロジックを、条件×動作のマトリクスで網羅的に整理する手法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「組み合わせの漏れ」を防げるため、複雑な起動条件・異常判定ロジックとの相性が良い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YAMLでは conditions と rules のリストとして表現し、条件の組み合わせパターンを列挙する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decision_table: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name: モータ起動判定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conditions: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door_closed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battery_ok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start_button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rules: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when: [true, true, true]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action: MOTOR_START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when: [false, true, true]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action: MOTOR_STOP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when: [true, false, true]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action: MOTOR_STOP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② 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曖昧さのない定型構文で要求を書く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Easy Approach to Requirements Syntax の略。自然文の要求を定型パターンに当てはめて記述する手法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「WHEN〜SHALL」「IF〜THEN SHALL」のように主語・条件・義務を明確化し、解釈のブレをなくす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Event-driven / State-driven / Unwanted behavior 等のパターンをYAMLの pattern 属性で明示する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requirements: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id: REQ-101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pattern: event-driven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text: &gt;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WHEN the start button is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pressed, the system SHALL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start the motor within 100ms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id: REQ-102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pattern: unwanted-behavior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text: &gt;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IF battery voltage &lt; 3.0V,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THEN the system SHALL enter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safe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③ 正規化テーブル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パラメータを単一の真実源(Single Source of Truth)で管理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定数・パラメータ・データ項目を一箇所で一意に定義し、重複や表記ゆれを排除する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同じ値がExcelの複数シートに散在する状態を解消し、変更時の修正漏れを防ぐ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設計書・コード双方から同じ定義を参照できるため、値のズレによる不具合を根本から防止できる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parameters: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id: P001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name: MAX_MOTOR_SPEED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unit: rpm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value: 3000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range: [0, 5000]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id: P002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name: SAMPLING_RATE_HZ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unit: Hz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value: 100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range: [10, 1000]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④ シーケンス表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処理・メッセージのやり取りの順序を記述する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モジュール間・タスク間でやり取りされる処理やメッセージの順序を時系列に整理する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起動シーケンスや異常時のフェイルセーフ処理など、順序が重要な処理の記述に適する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YAMLでは steps のリストとして、from / to / message を順に並べて表現する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sequence: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name: 起動シーケンス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steps: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step: 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from: MainTask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MotorDriver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message: INIT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step: 2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from: MotorDriver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MainTask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message: INIT_DONE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step: 3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from: MainTask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MotorDriver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message: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⑤ 状態遷移表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状態とイベントによる振る舞いの変化を記述する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組み込み制御の中核となる「状態×イベント→遷移先」の対応関係を網羅的に整理する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モータ制御・通信プロトコルなど、状態を持つ制御ロジックのほぼすべてに適用できる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YAMLでは states と transitions のリストで、from / event / to を明示する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state_machine: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name: MotorControl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states: [IDLE, RUNNING, ERROR]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transitions: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from: IDLE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event: START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RUNNING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from: RUNNING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event: FAULT_DETECTED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ERROR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from: ERROR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event: RESET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to: IDLE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⑥ タイミングチャート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割込み・周期処理などハードウェアのタイミングを記述する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組み込み特有の要求記述。信号の変化タイミングや周期処理の時間関係を数値で厳密に表す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状態遷移表だけでは表現しきれない「いつ・どれだけの時間で」という制約を補完する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YAMLでは signal ごとに period や events(時刻とレベル)のリストとして記述する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timing: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signal: PWM_OUT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period_us: 1000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events: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t_us: 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level: HIGH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t_us: 300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level: LOW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constraints: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name: min_pulse_width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value_us: 50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⑦ I/Oマップ / レジスタ定義表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ピン配置・レジスタビット割付を管理する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組み込み特有の要求記述。ピン配置やレジスタのビット割付をYAMLで一元管理する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この定義から、Cヘッダファイルやconfigコードを自動生成でき、手打ち転記によるミスを撲滅できる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ハードウェア変更時も、この1ファイルを直せば設計・コードへ機械的に反映できる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io_map: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pins: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pin: PA0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function: PWM_OUT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direction: OUTPUT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registers: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- name: TIMER1_CTRL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address: 0x4000_0000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bits: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  - bit: 3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    name: TIMER1_EN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    access: RW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⑧ Given-When-Then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テスト観点で要求を記述し、CT/ITへ橋渡しする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振る舞い駆動開発(BDD)で使われる記法。前提(Given)・操作(When)・結果(Then)で要求を記述する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EARSで書いた要求を、そのままテストシナリオの形に変換しやすいのが特長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この構造は単体テスト(CT)・組込みテスト(IT)のテストケース自動生成の入力として直接利用できる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scenario: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id: TC-201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req_id: REQ-101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given: &gt;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モータが停止している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when: &gt;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Startボタンが押される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then: &gt;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100ms以内にモータが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回転を始める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⑨ トレーサビリティマトリクス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要求⇔設計⇔テストの対応関係を管理する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各要求がどの設計・どのテストケースに対応するかを機械可読な形で紐付ける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「影響範囲の見極めが難しい」という現状課題(課題②)に最も直接的に効く手法</a:t>
            </a: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sz="1450" b="1" i="0">
                <a:solidFill>
                  <a:srgbClr val="333333"/>
                </a:solidFill>
                <a:latin typeface="游ゴシック"/>
                <a:ea typeface="游ゴシック"/>
              </a:rPr>
              <a:t>● 要求が変更されると、紐付いた設計・テストIDを自動的にリストアップでき、対応漏れを防止できる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YAML記述例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5212080" cy="420624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traceability: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req_id: REQ-101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design_id: DES-045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code_ref: motor_ctrl.c#L120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test_ids: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- CT-301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- IT-118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- req_id: REQ-102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design_id: DES-046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test_ids: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5E853"/>
                </a:solidFill>
                <a:latin typeface="Consolas"/>
                <a:ea typeface="Consolas"/>
              </a:rPr>
              <a:t>      - CT-302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レビュー時の逆変換デモ(1)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YAML → 状態遷移図を自動生成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書くのは:YAML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20640" cy="310896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state_machine: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name: MotorControl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states: [IDLE, RUNNING, ERROR]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transitions: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from: IDLE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event: START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to: RUNNING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from: RUNNING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event: FAULT_DETECTED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to: ERROR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from: ERROR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event: RESET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to: 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A4C"/>
                </a:solidFill>
                <a:latin typeface="游ゴシック"/>
                <a:ea typeface="游ゴシック"/>
              </a:rPr>
              <a:t>レビュー時に見るのは:自動生成された状態遷移図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011680"/>
            <a:ext cx="5212080" cy="393192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2331720"/>
            <a:ext cx="1645920" cy="731520"/>
          </a:xfrm>
          <a:prstGeom prst="ellipse">
            <a:avLst/>
          </a:prstGeom>
          <a:solidFill>
            <a:srgbClr val="E8F1F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1F3A5F"/>
                </a:solidFill>
                <a:latin typeface="游ゴシック"/>
                <a:ea typeface="游ゴシック"/>
              </a:rPr>
              <a:t>IDLE</a:t>
            </a:r>
          </a:p>
        </p:txBody>
      </p:sp>
      <p:sp>
        <p:nvSpPr>
          <p:cNvPr id="9" name="Oval 8"/>
          <p:cNvSpPr/>
          <p:nvPr/>
        </p:nvSpPr>
        <p:spPr>
          <a:xfrm>
            <a:off x="9235440" y="2331720"/>
            <a:ext cx="1737360" cy="731520"/>
          </a:xfrm>
          <a:prstGeom prst="ellipse">
            <a:avLst/>
          </a:prstGeom>
          <a:solidFill>
            <a:srgbClr val="D9EAD3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1E8A4C"/>
                </a:solidFill>
                <a:latin typeface="游ゴシック"/>
                <a:ea typeface="游ゴシック"/>
              </a:rPr>
              <a:t>RUNNING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4297680"/>
            <a:ext cx="1737360" cy="731520"/>
          </a:xfrm>
          <a:prstGeom prst="ellipse">
            <a:avLst/>
          </a:prstGeom>
          <a:solidFill>
            <a:srgbClr val="FCE0DD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C0392B"/>
                </a:solidFill>
                <a:latin typeface="游ゴシック"/>
                <a:ea typeface="游ゴシック"/>
              </a:rPr>
              <a:t>ERROR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2697480"/>
            <a:ext cx="109728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92440" y="2331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A5F"/>
                </a:solidFill>
                <a:latin typeface="游ゴシック"/>
                <a:ea typeface="游ゴシック"/>
              </a:rPr>
              <a:t>START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8778240" y="3063240"/>
            <a:ext cx="914400" cy="123444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6968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A5F"/>
                </a:solidFill>
                <a:latin typeface="游ゴシック"/>
                <a:ea typeface="游ゴシック"/>
              </a:rPr>
              <a:t>FAULT_DETECTED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949440" y="3063240"/>
            <a:ext cx="914400" cy="150876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A5F"/>
                </a:solidFill>
                <a:latin typeface="游ゴシック"/>
                <a:ea typeface="游ゴシック"/>
              </a:rPr>
              <a:t>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記述はYAML、確認は従来通りの状態遷移図。レビュー担当者はツールの出す図を見るだけでよく、YAMLの読み書きスキルを必須としない。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レビュー時の逆変換デモ(2)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YAML → 判断表(表形式)を自動生成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書くのは:YAML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20640" cy="310896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decision_table: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name: モータ起動判定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conditions: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door_closed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battery_ok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start_button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rules: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when: [true, true, true]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action: MOTOR_START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when: [false, true, true]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action: MOTOR_STOP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when: [true, false, true]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action: MOTOR_STOP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A4C"/>
                </a:solidFill>
                <a:latin typeface="游ゴシック"/>
                <a:ea typeface="游ゴシック"/>
              </a:rPr>
              <a:t>レビュー時に見るのは:自動生成された判断表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205740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door_closed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battery_ok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start_button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MOTOR_START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FALSE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MOTOR_STOP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MOTOR_STOP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見慣れた判断表の形式で確認できるため、これまでExcelでレビューしてきたメンバーもそのまま移行できる。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レビュー時の逆変換デモ(3)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YAML → タイミングチャートを自動生成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游ゴシック"/>
                <a:ea typeface="游ゴシック"/>
              </a:rPr>
              <a:t>書くのは:YAML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20640" cy="3108960"/>
          </a:xfrm>
          <a:prstGeom prst="rect">
            <a:avLst/>
          </a:prstGeom>
          <a:solidFill>
            <a:srgbClr val="272B30"/>
          </a:solidFill>
          <a:ln>
            <a:solidFill>
              <a:srgbClr val="111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timing: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signal: PWM_OUT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period_us: 1000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events: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t_us: 0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level: HIGH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t_us: 300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level: LOW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constraints: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- name: min_pulse_width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5E853"/>
                </a:solidFill>
                <a:latin typeface="Consolas"/>
                <a:ea typeface="Consolas"/>
              </a:rPr>
              <a:t>      value_us: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A4C"/>
                </a:solidFill>
                <a:latin typeface="游ゴシック"/>
                <a:ea typeface="游ゴシック"/>
              </a:rPr>
              <a:t>レビュー時に見るのは:自動生成された波形図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09360" y="3291840"/>
            <a:ext cx="484632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09360" y="2377440"/>
            <a:ext cx="146304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772400" y="2697480"/>
            <a:ext cx="0" cy="59436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3291840"/>
            <a:ext cx="338328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0936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6AB"/>
                </a:solidFill>
                <a:latin typeface="游ゴシック"/>
                <a:ea typeface="游ゴシック"/>
              </a:rPr>
              <a:t>300us (HIGH)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游ゴシック"/>
                <a:ea typeface="游ゴシック"/>
              </a:rPr>
              <a:t>700us (LOW)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游ゴシック"/>
                <a:ea typeface="游ゴシック"/>
              </a:rPr>
              <a:t>period_us = 1000 (周期1ms)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ハードウェアタイミングの制約も波形として可視化され、口頭説明に頼らず正確にレビューできる。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デジタル化がもたらすメリット(1/2)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版数管理・差分・自動生成の基本メリット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457200" cy="822960"/>
          </a:xfrm>
          <a:prstGeom prst="ellipse">
            <a:avLst/>
          </a:prstGeom>
          <a:solidFill>
            <a:srgbClr val="1E8A4C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Gitによる正しい版数管理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6712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誰が・いつ・何を変更したかが履歴として残り、レビューと復元が確実になる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34640"/>
            <a:ext cx="457200" cy="822960"/>
          </a:xfrm>
          <a:prstGeom prst="ellipse">
            <a:avLst/>
          </a:prstGeom>
          <a:solidFill>
            <a:srgbClr val="1E8A4C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正確な要求の差分抽出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186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Git diffにより変更点を機械的に特定でき、目視確認の見落としを排除する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457200" cy="822960"/>
          </a:xfrm>
          <a:prstGeom prst="ellipse">
            <a:avLst/>
          </a:prstGeom>
          <a:solidFill>
            <a:srgbClr val="1E8A4C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862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設計・テスト項目の自動生成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7024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差分から影響を受ける設計項目・テストケースを自動リストアップできる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937760"/>
            <a:ext cx="457200" cy="822960"/>
          </a:xfrm>
          <a:prstGeom prst="ellipse">
            <a:avLst/>
          </a:prstGeom>
          <a:solidFill>
            <a:srgbClr val="1E8A4C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377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游ゴシック"/>
                <a:ea typeface="游ゴシック"/>
              </a:rPr>
              <a:t>インシデント管理への自動登録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218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游ゴシック"/>
                <a:ea typeface="游ゴシック"/>
              </a:rPr>
              <a:t>検出した不整合や要対応項目をバックログ等へ自動起票し、対応漏れを防ぐ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デジタル化がもたらすメリット(2/2)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組み込み開発ならではの追加メリット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00200"/>
            <a:ext cx="457200" cy="713232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819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コードの自動生成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476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游ゴシック"/>
                <a:ea typeface="游ゴシック"/>
              </a:rPr>
              <a:t>I/Oマップ・状態遷移表からCヘッダやconfigコードを自動生成し、手打ち転記のミスを撲滅する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457200" cy="713232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963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スキーマによる妥当性検証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620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游ゴシック"/>
                <a:ea typeface="游ゴシック"/>
              </a:rPr>
              <a:t>JSON Schema等で必須項目漏れ・型不整合を機械的にチェックし、不備を作成時点で検出する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457200" cy="713232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107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AIによる矛盾・抜け漏れ検出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764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游ゴシック"/>
                <a:ea typeface="游ゴシック"/>
              </a:rPr>
              <a:t>要求間の矛盾や記載漏れをAIが機械的に検出し、レビュー負荷を下げつつ精度を上げる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43400"/>
            <a:ext cx="457200" cy="713232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251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CI連携による一気通貫の自動化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908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游ゴシック"/>
                <a:ea typeface="游ゴシック"/>
              </a:rPr>
              <a:t>要求変更 → 影響設計/テストのリストアップ → レビュー依頼までを自動パイプライン化できる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57800"/>
            <a:ext cx="457200" cy="713232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3951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製品ファミリー間での差分再利用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6052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游ゴシック"/>
                <a:ea typeface="游ゴシック"/>
              </a:rPr>
              <a:t>派生機種開発において、共通要求と差分要求を明確に分離・再利用できる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よくある不安への回答(1/3)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「今までのやり方が否定される」わけではない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0136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今まで培ってきた設計スキルは無駄になるのでは?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ならない。判断表・状態遷移・シーケンスといった設計の考え方そのものは変わらない。変わるのは、それを書き留める記法だけ。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5584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YAMLを書くのはプログラミングみたいで難しいのでは?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416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プログラミング言語ではない。「項目名: 値」を字下げして並べるだけで、Excelの表を作る感覚に近い。テンプレートも用意する。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よくある不安への回答(2/3)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レビューの進め方は変わらない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0136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レビューのやり方が大きく変わってしまうのでは?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変わらない。逆変換ツールにより、これまで通り状態遷移図・判断表・タイミングチャートを見てレビューできる。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5584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全部を一気にYAMLへ置き換えるのか?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416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本資料では置き換えの是非と考え方の共有が目的。対象範囲・進め方は別途チームで検討する。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600" b="1" i="0">
                <a:solidFill>
                  <a:srgbClr val="FFFFFF"/>
                </a:solidFill>
                <a:latin typeface="游ゴシック"/>
                <a:ea typeface="游ゴシック"/>
              </a:rPr>
              <a:t>よくある不安への回答(3/3)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游ゴシック"/>
                <a:ea typeface="游ゴシック"/>
              </a:rPr>
              <a:t>運用・移行の実務面について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0136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ツールの導入・運用コストがかかるのでは?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既存のGit環境や汎用エディタで始められ、追加コストは小さく抑えられる想定。詳細は別途整理する。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08E0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5584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游ゴシック"/>
                <a:ea typeface="游ゴシック"/>
              </a:rPr>
              <a:t>既存のExcel資産はどうなるのか?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416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游ゴシック"/>
                <a:ea typeface="游ゴシック"/>
              </a:rPr>
              <a:t>既存資産は参照用として残しつつ、対象を絞って段階的にYAML化する。移行方法は別途検討する。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l"/>
            <a:r>
              <a:rPr sz="900" b="0" i="0">
                <a:solidFill>
                  <a:srgbClr val="FFFFFF"/>
                </a:solidFill>
                <a:latin typeface="游ゴシック"/>
                <a:ea typeface="游ゴシック"/>
              </a:rPr>
              <a:t>要求仕様デジタル化プロジェクト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601968"/>
            <a:ext cx="685800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游ゴシック"/>
                <a:ea typeface="游ゴシック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游ゴシック"/>
                <a:ea typeface="游ゴシック"/>
              </a:rPr>
              <a:t>まとめ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60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40080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現状の課題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YAML化による対応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① 変更点の見落とし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Git差分による機械的な変更検出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② 影響範囲の見極めが困難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トレーサビリティマトリクスによる自動追跡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③ 小手先修正の繰り返し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游ゴシック"/>
                          <a:ea typeface="游ゴシック"/>
                        </a:rPr>
                        <a:t>構造化された要求から設計・テストを自動生成し、根本対応の土台を作る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游ゴシック"/>
                <a:ea typeface="游ゴシック"/>
              </a:rPr>
              <a:t>変えるのは「記述の形式」だけ。判断表・状態遷移・シーケンスという設計の考え方、
レビューで確認する図や表は、これまでと同じものを使い続けられる。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D4EA"/>
                </a:solidFill>
                <a:latin typeface="游ゴシック"/>
                <a:ea typeface="游ゴシック"/>
              </a:rPr>
              <a:t>まずは対象範囲を絞った試行から始め、効果を確認しながら適用範囲を広げていく。
次のステップについて、皆さんのご意見をお聞かせください。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